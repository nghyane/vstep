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3538727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01/24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932688"/>
            <a:ext cx="1627632" cy="63494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8368" y="1847088"/>
            <a:ext cx="10881360" cy="7498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3100" b="1">
                <a:solidFill>
                  <a:srgbClr val="122440"/>
                </a:solidFill>
                <a:latin typeface="Aptos"/>
              </a:defRPr>
            </a:pPr>
            <a:r>
              <a:t>An Adaptive VSTEP Preparation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578608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1850" b="1">
                <a:solidFill>
                  <a:srgbClr val="2B5C9A"/>
                </a:solidFill>
                <a:latin typeface="Aptos"/>
              </a:defRPr>
            </a:pPr>
            <a:r>
              <a:t>Comprehensive Skill Assessment and Personalized Learning Support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337560"/>
            <a:ext cx="2834640" cy="384048"/>
          </a:xfrm>
          <a:prstGeom prst="roundRect">
            <a:avLst/>
          </a:prstGeom>
          <a:solidFill>
            <a:srgbClr val="FFFFFF"/>
          </a:solidFill>
          <a:ln w="12065">
            <a:solidFill>
              <a:srgbClr val="EC7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80" b="1">
                <a:solidFill>
                  <a:srgbClr val="282F3A"/>
                </a:solidFill>
                <a:latin typeface="Aptos"/>
              </a:defRPr>
            </a:pPr>
            <a:r>
              <a:t>SP26SE145 · GSP26SE63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078224"/>
            <a:ext cx="1005840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1320" b="0">
                <a:solidFill>
                  <a:srgbClr val="282F3A"/>
                </a:solidFill>
                <a:latin typeface="Aptos"/>
              </a:defRPr>
            </a:pPr>
            <a:r>
              <a:t>Hoàng Văn Anh Nghĩa · Nguyễn Minh Khôi · Nguyễn Nhật Phát · Nguyễn Trần Tấn Phát</a:t>
            </a:r>
            <a:br/>
            <a:r>
              <a:t>Academic Supervisor: Lâm Hữu Khánh Phương · Industry Supervisor: Trần Trọng Huỳnh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3538727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02/24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84124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2300" b="1">
                <a:solidFill>
                  <a:srgbClr val="122440"/>
                </a:solidFill>
                <a:latin typeface="Aptos"/>
              </a:defRPr>
            </a:pPr>
            <a:r>
              <a:t>Presentation Outline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298448"/>
            <a:ext cx="713232" cy="32004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1444752"/>
            <a:ext cx="106070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1150" b="0">
                <a:solidFill>
                  <a:srgbClr val="5D6776"/>
                </a:solidFill>
                <a:latin typeface="Aptos"/>
              </a:defRPr>
            </a:pPr>
            <a:r>
              <a:t>The header also functions as a progress outline with the active section highlighted.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1783080"/>
            <a:ext cx="475488" cy="347472"/>
          </a:xfrm>
          <a:prstGeom prst="roundRect">
            <a:avLst/>
          </a:prstGeom>
          <a:solidFill>
            <a:srgbClr val="FFFFFF"/>
          </a:solidFill>
          <a:ln w="12065">
            <a:solidFill>
              <a:srgbClr val="EC7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EC701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1847088"/>
            <a:ext cx="4251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1350" b="1">
                <a:solidFill>
                  <a:srgbClr val="282F3A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783080"/>
            <a:ext cx="475488" cy="347472"/>
          </a:xfrm>
          <a:prstGeom prst="roundRect">
            <a:avLst/>
          </a:prstGeom>
          <a:solidFill>
            <a:srgbClr val="FFFFFF"/>
          </a:solidFill>
          <a:ln w="12065">
            <a:solidFill>
              <a:srgbClr val="EC7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EC701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847088"/>
            <a:ext cx="4251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1350" b="1">
                <a:solidFill>
                  <a:srgbClr val="282F3A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2532888"/>
            <a:ext cx="475488" cy="347472"/>
          </a:xfrm>
          <a:prstGeom prst="roundRect">
            <a:avLst/>
          </a:prstGeom>
          <a:solidFill>
            <a:srgbClr val="FFFFFF"/>
          </a:solidFill>
          <a:ln w="12065">
            <a:solidFill>
              <a:srgbClr val="EC7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EC701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2596896"/>
            <a:ext cx="4251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1350" b="1">
                <a:solidFill>
                  <a:srgbClr val="282F3A"/>
                </a:solidFill>
                <a:latin typeface="Aptos"/>
              </a:defRPr>
            </a:pPr>
            <a:r>
              <a:t>Solution &amp; scope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532888"/>
            <a:ext cx="475488" cy="347472"/>
          </a:xfrm>
          <a:prstGeom prst="roundRect">
            <a:avLst/>
          </a:prstGeom>
          <a:solidFill>
            <a:srgbClr val="FFFFFF"/>
          </a:solidFill>
          <a:ln w="12065">
            <a:solidFill>
              <a:srgbClr val="EC7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EC701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596896"/>
            <a:ext cx="4251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1350" b="1">
                <a:solidFill>
                  <a:srgbClr val="282F3A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3282696"/>
            <a:ext cx="475488" cy="347472"/>
          </a:xfrm>
          <a:prstGeom prst="roundRect">
            <a:avLst/>
          </a:prstGeom>
          <a:solidFill>
            <a:srgbClr val="FFFFFF"/>
          </a:solidFill>
          <a:ln w="12065">
            <a:solidFill>
              <a:srgbClr val="EC7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EC701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3346703"/>
            <a:ext cx="4251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1350" b="1">
                <a:solidFill>
                  <a:srgbClr val="282F3A"/>
                </a:solidFill>
                <a:latin typeface="Aptos"/>
              </a:defRPr>
            </a:pPr>
            <a:r>
              <a:t>Assessment engine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282696"/>
            <a:ext cx="475488" cy="347472"/>
          </a:xfrm>
          <a:prstGeom prst="roundRect">
            <a:avLst/>
          </a:prstGeom>
          <a:solidFill>
            <a:srgbClr val="FFFFFF"/>
          </a:solidFill>
          <a:ln w="12065">
            <a:solidFill>
              <a:srgbClr val="EC7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EC701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346703"/>
            <a:ext cx="4251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1350" b="1">
                <a:solidFill>
                  <a:srgbClr val="282F3A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032504"/>
            <a:ext cx="475488" cy="347472"/>
          </a:xfrm>
          <a:prstGeom prst="roundRect">
            <a:avLst/>
          </a:prstGeom>
          <a:solidFill>
            <a:srgbClr val="FFFFFF"/>
          </a:solidFill>
          <a:ln w="12065">
            <a:solidFill>
              <a:srgbClr val="EC7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EC701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096512"/>
            <a:ext cx="4251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1350" b="1">
                <a:solidFill>
                  <a:srgbClr val="282F3A"/>
                </a:solidFill>
                <a:latin typeface="Aptos"/>
              </a:defRPr>
            </a:pPr>
            <a:r>
              <a:t>Learning support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032504"/>
            <a:ext cx="475488" cy="347472"/>
          </a:xfrm>
          <a:prstGeom prst="roundRect">
            <a:avLst/>
          </a:prstGeom>
          <a:solidFill>
            <a:srgbClr val="FFFFFF"/>
          </a:solidFill>
          <a:ln w="12065">
            <a:solidFill>
              <a:srgbClr val="EC7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EC701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096512"/>
            <a:ext cx="4251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1350" b="1">
                <a:solidFill>
                  <a:srgbClr val="282F3A"/>
                </a:solidFill>
                <a:latin typeface="Aptos"/>
              </a:defRPr>
            </a:pPr>
            <a:r>
              <a:t>Demo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3538727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03/24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84124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2300" b="1">
                <a:solidFill>
                  <a:srgbClr val="122440"/>
                </a:solidFill>
                <a:latin typeface="Aptos"/>
              </a:defRPr>
            </a:pPr>
            <a:r>
              <a:t>Why VSTEP Matters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298448"/>
            <a:ext cx="713232" cy="32004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1737360"/>
            <a:ext cx="10652760" cy="41605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82F3A"/>
                </a:solidFill>
                <a:latin typeface="Aptos"/>
              </a:defRPr>
            </a:pPr>
            <a:r>
              <a:t>• Vietnamese standardized English proficiency test used for graduation, certification, and professional purposes.</a:t>
            </a:r>
          </a:p>
          <a:p>
            <a:pPr>
              <a:spcAft>
                <a:spcPts val="900"/>
              </a:spcAft>
              <a:defRPr sz="1800">
                <a:solidFill>
                  <a:srgbClr val="282F3A"/>
                </a:solidFill>
                <a:latin typeface="Aptos"/>
              </a:defRPr>
            </a:pPr>
            <a:r>
              <a:t>• Evaluates practical English proficiency across Listening, Reading, Writing, and Speaking.</a:t>
            </a:r>
          </a:p>
          <a:p>
            <a:pPr>
              <a:spcAft>
                <a:spcPts val="900"/>
              </a:spcAft>
              <a:defRPr sz="1800">
                <a:solidFill>
                  <a:srgbClr val="282F3A"/>
                </a:solidFill>
                <a:latin typeface="Aptos"/>
              </a:defRPr>
            </a:pPr>
            <a:r>
              <a:t>• Learners preparing for B1–C1 need targeted practice and reliable feedback.</a:t>
            </a:r>
          </a:p>
          <a:p>
            <a:pPr>
              <a:spcAft>
                <a:spcPts val="900"/>
              </a:spcAft>
              <a:defRPr sz="1800">
                <a:solidFill>
                  <a:srgbClr val="282F3A"/>
                </a:solidFill>
                <a:latin typeface="Aptos"/>
              </a:defRPr>
            </a:pPr>
            <a:r>
              <a:t>• A digital system can shorten feedback cycles and make progress more measurable.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3538727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04/24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84124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2300" b="1">
                <a:solidFill>
                  <a:srgbClr val="122440"/>
                </a:solidFill>
                <a:latin typeface="Aptos"/>
              </a:defRPr>
            </a:pPr>
            <a:r>
              <a:t>VSTEP Test Structure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298448"/>
            <a:ext cx="713232" cy="32004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58368" y="1755648"/>
          <a:ext cx="108813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343400"/>
                <a:gridCol w="4709160"/>
              </a:tblGrid>
              <a:tr h="566928">
                <a:tc>
                  <a:txBody>
                    <a:bodyPr lIns="73152" rIns="73152"/>
                    <a:lstStyle/>
                    <a:p>
                      <a:pPr>
                        <a:defRPr sz="11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Skill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Official-style format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System handling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</a:tr>
              <a:tr h="566928">
                <a:tc>
                  <a:txBody>
                    <a:bodyPr lIns="73152" rIns="73152"/>
                    <a:lstStyle/>
                    <a:p>
                      <a:pPr>
                        <a:defRPr sz="118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Listening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8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Audio-based objective questions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8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Answer-key based auto-grading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lIns="73152" rIns="73152"/>
                    <a:lstStyle/>
                    <a:p>
                      <a:pPr>
                        <a:defRPr sz="118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Reading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8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MCQ, single correct answer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8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Answer-key based auto-grading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73152" rIns="73152"/>
                    <a:lstStyle/>
                    <a:p>
                      <a:pPr>
                        <a:defRPr sz="118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Writing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8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Task 1 and Task 2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8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Rubric formula + evidence trace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lIns="73152" rIns="73152"/>
                    <a:lstStyle/>
                    <a:p>
                      <a:pPr>
                        <a:defRPr sz="118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Speaking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8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Recorded spoken 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8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Rubric formula + speech signals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4160520" y="5047488"/>
            <a:ext cx="3840480" cy="420624"/>
          </a:xfrm>
          <a:prstGeom prst="roundRect">
            <a:avLst/>
          </a:prstGeom>
          <a:solidFill>
            <a:srgbClr val="FFFFFF"/>
          </a:solidFill>
          <a:ln w="12065">
            <a:solidFill>
              <a:srgbClr val="EC7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22440"/>
                </a:solidFill>
                <a:latin typeface="Aptos"/>
              </a:defRPr>
            </a:pPr>
            <a:r>
              <a:t>Target scope: VSTEP B1–C1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8264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05/24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84124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2300" b="1">
                <a:solidFill>
                  <a:srgbClr val="12244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298448"/>
            <a:ext cx="713232" cy="32004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1737360"/>
            <a:ext cx="3429000" cy="30632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1737360"/>
            <a:ext cx="50292" cy="306324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1865376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1350" b="1">
                <a:solidFill>
                  <a:srgbClr val="122440"/>
                </a:solidFill>
                <a:latin typeface="Aptos"/>
              </a:defRPr>
            </a:pPr>
            <a:r>
              <a:t>Learner pain 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2212848"/>
            <a:ext cx="3099816" cy="2514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Difficulty identifying weak skills</a:t>
            </a:r>
          </a:p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Slow feedback for productive skills</a:t>
            </a:r>
          </a:p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Static study plans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6552" y="1737360"/>
            <a:ext cx="3429000" cy="30632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6552" y="1737360"/>
            <a:ext cx="50292" cy="3063240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1865376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1350" b="1">
                <a:solidFill>
                  <a:srgbClr val="122440"/>
                </a:solidFill>
                <a:latin typeface="Aptos"/>
              </a:defRPr>
            </a:pPr>
            <a:r>
              <a:t>Platform gaps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2212848"/>
            <a:ext cx="3099816" cy="2514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Objective skills are easier to grade</a:t>
            </a:r>
          </a:p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Writing/Speaking lack rubric trace</a:t>
            </a:r>
          </a:p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Progress data is not actionable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1583" y="1737360"/>
            <a:ext cx="3429000" cy="30632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583" y="1737360"/>
            <a:ext cx="50292" cy="3063240"/>
          </a:xfrm>
          <a:prstGeom prst="rect">
            <a:avLst/>
          </a:prstGeom>
          <a:solidFill>
            <a:srgbClr val="2A7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1865376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1350" b="1">
                <a:solidFill>
                  <a:srgbClr val="122440"/>
                </a:solidFill>
                <a:latin typeface="Aptos"/>
              </a:defRPr>
            </a:pPr>
            <a:r>
              <a:t>Academic need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2212848"/>
            <a:ext cx="3099816" cy="2514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VSTEP-aligned preparation</a:t>
            </a:r>
          </a:p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Transparent scoring logic</a:t>
            </a:r>
          </a:p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Personalized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8264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06/24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84124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2300" b="1">
                <a:solidFill>
                  <a:srgbClr val="122440"/>
                </a:solidFill>
                <a:latin typeface="Aptos"/>
              </a:defRPr>
            </a:pPr>
            <a:r>
              <a:t>Existing Solutions and Gaps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298448"/>
            <a:ext cx="713232" cy="32004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94360" y="1737360"/>
          <a:ext cx="1101852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3383280"/>
                <a:gridCol w="5303520"/>
              </a:tblGrid>
              <a:tr h="630936">
                <a:tc>
                  <a:txBody>
                    <a:bodyPr lIns="73152" rIns="73152"/>
                    <a:lstStyle/>
                    <a:p>
                      <a:pPr>
                        <a:defRPr sz="11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Main limitation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</a:tr>
              <a:tr h="630936">
                <a:tc>
                  <a:txBody>
                    <a:bodyPr lIns="73152" rIns="73152"/>
                    <a:lstStyle/>
                    <a:p>
                      <a:pPr>
                        <a:defRPr sz="113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Training centers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3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Teacher support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3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Limited personalization and fixed schedules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630936">
                <a:tc>
                  <a:txBody>
                    <a:bodyPr lIns="73152" rIns="73152"/>
                    <a:lstStyle/>
                    <a:p>
                      <a:pPr>
                        <a:defRPr sz="113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Mock test websites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3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Large question banks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3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Weak Writing/Speaking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lIns="73152" rIns="73152"/>
                    <a:lstStyle/>
                    <a:p>
                      <a:pPr>
                        <a:defRPr sz="113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General English apps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3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Interactive and accessible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3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Not aligned with VSTEP format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630936">
                <a:tc>
                  <a:txBody>
                    <a:bodyPr lIns="73152" rIns="73152"/>
                    <a:lstStyle/>
                    <a:p>
                      <a:pPr>
                        <a:defRPr sz="113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AI writing/speaking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3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Fast language 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3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Not controlled by VSTEP rubric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07/24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84124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2300" b="1">
                <a:solidFill>
                  <a:srgbClr val="122440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298448"/>
            <a:ext cx="713232" cy="32004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1737360"/>
            <a:ext cx="10652760" cy="41605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82F3A"/>
                </a:solidFill>
                <a:latin typeface="Aptos"/>
              </a:defRPr>
            </a:pPr>
            <a:r>
              <a:t>• Web and mobile platform for VSTEP preparation across four skills.</a:t>
            </a:r>
          </a:p>
          <a:p>
            <a:pPr>
              <a:spcAft>
                <a:spcPts val="900"/>
              </a:spcAft>
              <a:defRPr sz="1800">
                <a:solidFill>
                  <a:srgbClr val="282F3A"/>
                </a:solidFill>
                <a:latin typeface="Aptos"/>
              </a:defRPr>
            </a:pPr>
            <a:r>
              <a:t>• Practice mode and full mock test mode with saved sessions and score results.</a:t>
            </a:r>
          </a:p>
          <a:p>
            <a:pPr>
              <a:spcAft>
                <a:spcPts val="900"/>
              </a:spcAft>
              <a:defRPr sz="1800">
                <a:solidFill>
                  <a:srgbClr val="282F3A"/>
                </a:solidFill>
                <a:latin typeface="Aptos"/>
              </a:defRPr>
            </a:pPr>
            <a:r>
              <a:t>• Rubric-based Writing/Speaking scoring supported by AI evidence extraction.</a:t>
            </a:r>
          </a:p>
          <a:p>
            <a:pPr>
              <a:spcAft>
                <a:spcPts val="900"/>
              </a:spcAft>
              <a:defRPr sz="1800">
                <a:solidFill>
                  <a:srgbClr val="282F3A"/>
                </a:solidFill>
                <a:latin typeface="Aptos"/>
              </a:defRPr>
            </a:pPr>
            <a:r>
              <a:t>• Skill-gap recommendation, vocabulary spaced repetition, and progress visualization.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08/24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84124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2300" b="1">
                <a:solidFill>
                  <a:srgbClr val="122440"/>
                </a:solidFill>
                <a:latin typeface="Aptos"/>
              </a:defRPr>
            </a:pPr>
            <a:r>
              <a:t>Scope Alignment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298448"/>
            <a:ext cx="713232" cy="32004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1444752"/>
            <a:ext cx="106070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1150" b="0">
                <a:solidFill>
                  <a:srgbClr val="5D6776"/>
                </a:solidFill>
                <a:latin typeface="Aptos"/>
              </a:defRPr>
            </a:pPr>
            <a:r>
              <a:t>Current capstone implementation versus future 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1719072"/>
            <a:ext cx="5074920" cy="3520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1719072"/>
            <a:ext cx="50292" cy="352044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1847088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1350" b="1">
                <a:solidFill>
                  <a:srgbClr val="122440"/>
                </a:solidFill>
                <a:latin typeface="Aptos"/>
              </a:defRPr>
            </a:pPr>
            <a:r>
              <a:t>Current capstone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2194560"/>
            <a:ext cx="4745736" cy="2971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Practice/mock test for four skills</a:t>
            </a:r>
          </a:p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Rubric-based scoring and AI-supported feedback</a:t>
            </a:r>
          </a:p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Rule-based learning path</a:t>
            </a:r>
          </a:p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Vocabulary spaced repetition</a:t>
            </a:r>
          </a:p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Dashboard, course, content, admin management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1719072"/>
            <a:ext cx="5074920" cy="3520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719072"/>
            <a:ext cx="50292" cy="3520440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1847088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1350" b="1">
                <a:solidFill>
                  <a:srgbClr val="122440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2194560"/>
            <a:ext cx="4745736" cy="2971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Dynamic adaptive difficulty system-wide</a:t>
            </a:r>
          </a:p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ML predictive analytics</a:t>
            </a:r>
          </a:p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Teacher-assigned individual modules</a:t>
            </a:r>
          </a:p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Large-scale official benchmark and SLA measurement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17336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09/24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84124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2300" b="1">
                <a:solidFill>
                  <a:srgbClr val="122440"/>
                </a:solidFill>
                <a:latin typeface="Aptos"/>
              </a:defRPr>
            </a:pPr>
            <a:r>
              <a:t>System Overview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298448"/>
            <a:ext cx="713232" cy="32004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749039" y="1700784"/>
            <a:ext cx="4663440" cy="457200"/>
          </a:xfrm>
          <a:prstGeom prst="roundRect">
            <a:avLst/>
          </a:prstGeom>
          <a:solidFill>
            <a:srgbClr val="EBF2FA"/>
          </a:solidFill>
          <a:ln w="12065">
            <a:solidFill>
              <a:srgbClr val="2B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22440"/>
                </a:solidFill>
                <a:latin typeface="Aptos"/>
              </a:defRPr>
            </a:pPr>
            <a:r>
              <a:t>Learner · Teacher · Admin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6120" y="2450592"/>
            <a:ext cx="5669280" cy="457200"/>
          </a:xfrm>
          <a:prstGeom prst="roundRect">
            <a:avLst/>
          </a:prstGeom>
          <a:solidFill>
            <a:srgbClr val="FFFFFF"/>
          </a:solidFill>
          <a:ln w="12065">
            <a:solidFill>
              <a:srgbClr val="2B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22440"/>
                </a:solidFill>
                <a:latin typeface="Aptos"/>
              </a:defRPr>
            </a:pPr>
            <a:r>
              <a:t>Web App · Mobile App · Admin Panel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8840" y="3200400"/>
            <a:ext cx="7863840" cy="475488"/>
          </a:xfrm>
          <a:prstGeom prst="roundRect">
            <a:avLst/>
          </a:prstGeom>
          <a:solidFill>
            <a:srgbClr val="EBF2FA"/>
          </a:solidFill>
          <a:ln w="12065">
            <a:solidFill>
              <a:srgbClr val="2B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22440"/>
                </a:solidFill>
                <a:latin typeface="Aptos"/>
              </a:defRPr>
            </a:pPr>
            <a:r>
              <a:t>Backend API · Assessment Engine · Recommendation Module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31720" y="3968496"/>
            <a:ext cx="7498079" cy="475488"/>
          </a:xfrm>
          <a:prstGeom prst="roundRect">
            <a:avLst/>
          </a:prstGeom>
          <a:solidFill>
            <a:srgbClr val="FFFFFF"/>
          </a:solidFill>
          <a:ln w="12065">
            <a:solidFill>
              <a:srgbClr val="EC7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22440"/>
                </a:solidFill>
                <a:latin typeface="Aptos"/>
              </a:defRPr>
            </a:pPr>
            <a:r>
              <a:t>PostgreSQL · Redis · Object Storage · AI/Speech Services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815584" y="2176272"/>
            <a:ext cx="365760" cy="210312"/>
          </a:xfrm>
          <a:prstGeom prst="downArrow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5815584" y="2926080"/>
            <a:ext cx="365760" cy="210312"/>
          </a:xfrm>
          <a:prstGeom prst="downArrow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5815584" y="3694176"/>
            <a:ext cx="365760" cy="210312"/>
          </a:xfrm>
          <a:prstGeom prst="downArrow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17336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10/24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84124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2300" b="1">
                <a:solidFill>
                  <a:srgbClr val="122440"/>
                </a:solidFill>
                <a:latin typeface="Aptos"/>
              </a:defRPr>
            </a:pPr>
            <a:r>
              <a:t>Learner Flow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298448"/>
            <a:ext cx="713232" cy="32004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" y="2057400"/>
            <a:ext cx="1874519" cy="566928"/>
          </a:xfrm>
          <a:prstGeom prst="roundRect">
            <a:avLst/>
          </a:prstGeom>
          <a:solidFill>
            <a:srgbClr val="EBF2FA"/>
          </a:solidFill>
          <a:ln w="12065">
            <a:solidFill>
              <a:srgbClr val="2B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60" b="1">
                <a:solidFill>
                  <a:srgbClr val="122440"/>
                </a:solidFill>
                <a:latin typeface="Aptos"/>
              </a:defRPr>
            </a:pPr>
            <a:r>
              <a:t>Register / Login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569464" y="2240280"/>
            <a:ext cx="237744" cy="201168"/>
          </a:xfrm>
          <a:prstGeom prst="rightArrow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880360" y="2057400"/>
            <a:ext cx="1874519" cy="566928"/>
          </a:xfrm>
          <a:prstGeom prst="roundRect">
            <a:avLst/>
          </a:prstGeom>
          <a:solidFill>
            <a:srgbClr val="FFFFFF"/>
          </a:solidFill>
          <a:ln w="12065">
            <a:solidFill>
              <a:srgbClr val="2B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60" b="1">
                <a:solidFill>
                  <a:srgbClr val="122440"/>
                </a:solidFill>
                <a:latin typeface="Aptos"/>
              </a:defRPr>
            </a:pPr>
            <a:r>
              <a:t>Select target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828031" y="2240280"/>
            <a:ext cx="237744" cy="201168"/>
          </a:xfrm>
          <a:prstGeom prst="rightArrow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138927" y="2057400"/>
            <a:ext cx="1874519" cy="566928"/>
          </a:xfrm>
          <a:prstGeom prst="roundRect">
            <a:avLst/>
          </a:prstGeom>
          <a:solidFill>
            <a:srgbClr val="EBF2FA"/>
          </a:solidFill>
          <a:ln w="12065">
            <a:solidFill>
              <a:srgbClr val="2B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60" b="1">
                <a:solidFill>
                  <a:srgbClr val="122440"/>
                </a:solidFill>
                <a:latin typeface="Aptos"/>
              </a:defRPr>
            </a:pPr>
            <a:r>
              <a:t>Practice / Mock test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086599" y="2240280"/>
            <a:ext cx="237744" cy="201168"/>
          </a:xfrm>
          <a:prstGeom prst="rightArrow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97496" y="2057400"/>
            <a:ext cx="1874519" cy="566928"/>
          </a:xfrm>
          <a:prstGeom prst="roundRect">
            <a:avLst/>
          </a:prstGeom>
          <a:solidFill>
            <a:srgbClr val="FFFFFF"/>
          </a:solidFill>
          <a:ln w="12065">
            <a:solidFill>
              <a:srgbClr val="2B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60" b="1">
                <a:solidFill>
                  <a:srgbClr val="122440"/>
                </a:solidFill>
                <a:latin typeface="Aptos"/>
              </a:defRPr>
            </a:pPr>
            <a:r>
              <a:t>Receive feedback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345168" y="2240280"/>
            <a:ext cx="237744" cy="201168"/>
          </a:xfrm>
          <a:prstGeom prst="rightArrow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56063" y="2057400"/>
            <a:ext cx="1874519" cy="566928"/>
          </a:xfrm>
          <a:prstGeom prst="roundRect">
            <a:avLst/>
          </a:prstGeom>
          <a:solidFill>
            <a:srgbClr val="EBF2FA"/>
          </a:solidFill>
          <a:ln w="12065">
            <a:solidFill>
              <a:srgbClr val="2B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60" b="1">
                <a:solidFill>
                  <a:srgbClr val="122440"/>
                </a:solidFill>
                <a:latin typeface="Aptos"/>
              </a:defRPr>
            </a:pPr>
            <a:r>
              <a:t>Follow learning 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703320"/>
            <a:ext cx="10332720" cy="1234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  <a:defRPr sz="1550">
                <a:solidFill>
                  <a:srgbClr val="282F3A"/>
                </a:solidFill>
                <a:latin typeface="Aptos"/>
              </a:defRPr>
            </a:pPr>
            <a:r>
              <a:t>• No separate placement test in the current capstone scope.</a:t>
            </a:r>
          </a:p>
          <a:p>
            <a:pPr>
              <a:spcAft>
                <a:spcPts val="900"/>
              </a:spcAft>
              <a:defRPr sz="1550">
                <a:solidFill>
                  <a:srgbClr val="282F3A"/>
                </a:solidFill>
                <a:latin typeface="Aptos"/>
              </a:defRPr>
            </a:pPr>
            <a:r>
              <a:t>• The first mock test or practice result acts as the initial performance baseline.</a:t>
            </a:r>
          </a:p>
          <a:p>
            <a:pPr>
              <a:spcAft>
                <a:spcPts val="900"/>
              </a:spcAft>
              <a:defRPr sz="1550">
                <a:solidFill>
                  <a:srgbClr val="282F3A"/>
                </a:solidFill>
                <a:latin typeface="Aptos"/>
              </a:defRPr>
            </a:pPr>
            <a:r>
              <a:t>• Ongoing results update skill gaps and recommendations.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17336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11/24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84124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2300" b="1">
                <a:solidFill>
                  <a:srgbClr val="122440"/>
                </a:solidFill>
                <a:latin typeface="Aptos"/>
              </a:defRPr>
            </a:pPr>
            <a:r>
              <a:t>Core Modules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298448"/>
            <a:ext cx="713232" cy="32004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13232" y="1755648"/>
          <a:ext cx="10808208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8659368"/>
              </a:tblGrid>
              <a:tr h="612648">
                <a:tc>
                  <a:txBody>
                    <a:bodyPr lIns="73152" rIns="73152"/>
                    <a:lstStyle/>
                    <a:p>
                      <a:pPr>
                        <a:defRPr sz="11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Modules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</a:tr>
              <a:tr h="612648">
                <a:tc>
                  <a:txBody>
                    <a:bodyPr lIns="73152" rIns="73152"/>
                    <a:lstStyle/>
                    <a:p>
                      <a:pPr>
                        <a:defRPr sz="118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Learning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8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Practice mode, Mock test mode, Learning path, Vocabulary review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612648">
                <a:tc>
                  <a:txBody>
                    <a:bodyPr lIns="73152" rIns="73152"/>
                    <a:lstStyle/>
                    <a:p>
                      <a:pPr>
                        <a:defRPr sz="118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8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Objective grading, Writing scoring, Speaking scoring, feedback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lIns="73152" rIns="73152"/>
                    <a:lstStyle/>
                    <a:p>
                      <a:pPr>
                        <a:defRPr sz="118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Management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8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Course, booking, content, admin, notification, exercise feedback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612648">
                <a:tc>
                  <a:txBody>
                    <a:bodyPr lIns="73152" rIns="73152"/>
                    <a:lstStyle/>
                    <a:p>
                      <a:pPr>
                        <a:defRPr sz="118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8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Progress dashboard, skill-gap analysis, score trends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76871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12/24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84124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2300" b="1">
                <a:solidFill>
                  <a:srgbClr val="122440"/>
                </a:solidFill>
                <a:latin typeface="Aptos"/>
              </a:defRPr>
            </a:pPr>
            <a:r>
              <a:t>Assessment Principle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298448"/>
            <a:ext cx="713232" cy="32004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057400" y="1700784"/>
            <a:ext cx="8092440" cy="566928"/>
          </a:xfrm>
          <a:prstGeom prst="roundRect">
            <a:avLst/>
          </a:prstGeom>
          <a:solidFill>
            <a:srgbClr val="EBF2FA"/>
          </a:solidFill>
          <a:ln w="12065">
            <a:solidFill>
              <a:srgbClr val="2B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22440"/>
                </a:solidFill>
                <a:latin typeface="Aptos"/>
              </a:defRPr>
            </a:pPr>
            <a:r>
              <a:t>AI does not decide the final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43200"/>
            <a:ext cx="10195560" cy="2377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282F3A"/>
                </a:solidFill>
                <a:latin typeface="Aptos"/>
              </a:defRPr>
            </a:pPr>
            <a:r>
              <a:t>• AI supports evidence extraction, content relevance analysis, and feedback wording.</a:t>
            </a:r>
          </a:p>
          <a:p>
            <a:pPr>
              <a:spcAft>
                <a:spcPts val="900"/>
              </a:spcAft>
              <a:defRPr sz="1650">
                <a:solidFill>
                  <a:srgbClr val="282F3A"/>
                </a:solidFill>
                <a:latin typeface="Aptos"/>
              </a:defRPr>
            </a:pPr>
            <a:r>
              <a:t>• Final scores are calculated by system-controlled rubric formulas.</a:t>
            </a:r>
          </a:p>
          <a:p>
            <a:pPr>
              <a:spcAft>
                <a:spcPts val="900"/>
              </a:spcAft>
              <a:defRPr sz="1650">
                <a:solidFill>
                  <a:srgbClr val="282F3A"/>
                </a:solidFill>
                <a:latin typeface="Aptos"/>
              </a:defRPr>
            </a:pPr>
            <a:r>
              <a:t>• Abnormal submissions are handled by explicit cap and penalty rules.</a:t>
            </a:r>
          </a:p>
          <a:p>
            <a:pPr>
              <a:spcAft>
                <a:spcPts val="900"/>
              </a:spcAft>
              <a:defRPr sz="1650">
                <a:solidFill>
                  <a:srgbClr val="282F3A"/>
                </a:solidFill>
                <a:latin typeface="Aptos"/>
              </a:defRPr>
            </a:pPr>
            <a:r>
              <a:t>• Each result stores criterion scores, weights, applied rules, and evidence trace.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76871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13/24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84124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2300" b="1">
                <a:solidFill>
                  <a:srgbClr val="122440"/>
                </a:solidFill>
                <a:latin typeface="Aptos"/>
              </a:defRPr>
            </a:pPr>
            <a:r>
              <a:t>Writing Scoring Formula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298448"/>
            <a:ext cx="713232" cy="32004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1700784"/>
            <a:ext cx="10771632" cy="566928"/>
          </a:xfrm>
          <a:prstGeom prst="roundRect">
            <a:avLst/>
          </a:prstGeom>
          <a:solidFill>
            <a:srgbClr val="EBF2FA"/>
          </a:solidFill>
          <a:ln w="12065">
            <a:solidFill>
              <a:srgbClr val="2B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60" b="1">
                <a:solidFill>
                  <a:srgbClr val="122440"/>
                </a:solidFill>
                <a:latin typeface="Aptos"/>
              </a:defRPr>
            </a:pPr>
            <a:r>
              <a:t>Writing Score = TF × 30% + ORG × 20% + GR × 25% + VOC × 25%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788920" y="2770632"/>
          <a:ext cx="6629400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1828800"/>
              </a:tblGrid>
              <a:tr h="442569">
                <a:tc>
                  <a:txBody>
                    <a:bodyPr lIns="73152" rIns="73152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Criterion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</a:tr>
              <a:tr h="442569">
                <a:tc>
                  <a:txBody>
                    <a:bodyPr lIns="73152" rIns="73152"/>
                    <a:lstStyle/>
                    <a:p>
                      <a:pPr>
                        <a:defRPr sz="135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Task Fulfillment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35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42569">
                <a:tc>
                  <a:txBody>
                    <a:bodyPr lIns="73152" rIns="73152"/>
                    <a:lstStyle/>
                    <a:p>
                      <a:pPr>
                        <a:defRPr sz="135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Organization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35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2569">
                <a:tc>
                  <a:txBody>
                    <a:bodyPr lIns="73152" rIns="73152"/>
                    <a:lstStyle/>
                    <a:p>
                      <a:pPr>
                        <a:defRPr sz="135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Grammar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35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42572">
                <a:tc>
                  <a:txBody>
                    <a:bodyPr lIns="73152" rIns="73152"/>
                    <a:lstStyle/>
                    <a:p>
                      <a:pPr>
                        <a:defRPr sz="135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Vocabulary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35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76871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14/24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84124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2300" b="1">
                <a:solidFill>
                  <a:srgbClr val="122440"/>
                </a:solidFill>
                <a:latin typeface="Aptos"/>
              </a:defRPr>
            </a:pPr>
            <a:r>
              <a:t>Writing Assessment Signals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298448"/>
            <a:ext cx="713232" cy="32004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58368" y="1737360"/>
          <a:ext cx="10881359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955279"/>
              </a:tblGrid>
              <a:tr h="612648">
                <a:tc>
                  <a:txBody>
                    <a:bodyPr lIns="73152" rIns="73152"/>
                    <a:lstStyle/>
                    <a:p>
                      <a:pPr>
                        <a:defRPr sz="11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Criterion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Signals used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</a:tr>
              <a:tr h="612648">
                <a:tc>
                  <a:txBody>
                    <a:bodyPr lIns="73152" rIns="73152"/>
                    <a:lstStyle/>
                    <a:p>
                      <a:pPr>
                        <a:defRPr sz="114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Task Fulfillment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4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Required ideas, topic relevance, examples, opinion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612648">
                <a:tc>
                  <a:txBody>
                    <a:bodyPr lIns="73152" rIns="73152"/>
                    <a:lstStyle/>
                    <a:p>
                      <a:pPr>
                        <a:defRPr sz="114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Organization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4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Paragraphing, cohesion, transitions, logical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lIns="73152" rIns="73152"/>
                    <a:lstStyle/>
                    <a:p>
                      <a:pPr>
                        <a:defRPr sz="114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Grammar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4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Error rate, sentence count, structural variety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612648">
                <a:tc>
                  <a:txBody>
                    <a:bodyPr lIns="73152" rIns="73152"/>
                    <a:lstStyle/>
                    <a:p>
                      <a:pPr>
                        <a:defRPr sz="114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Vocabulary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4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Lexical diversity, advanced words, spelling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2057400" y="5084064"/>
            <a:ext cx="8046720" cy="420624"/>
          </a:xfrm>
          <a:prstGeom prst="roundRect">
            <a:avLst/>
          </a:prstGeom>
          <a:solidFill>
            <a:srgbClr val="FFFFFF"/>
          </a:solidFill>
          <a:ln w="12065">
            <a:solidFill>
              <a:srgbClr val="EC7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22440"/>
                </a:solidFill>
                <a:latin typeface="Aptos"/>
              </a:defRPr>
            </a:pPr>
            <a:r>
              <a:t>Goal: evidence-based feedback aligned with the VSTEP rubric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76871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15/24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84124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2300" b="1">
                <a:solidFill>
                  <a:srgbClr val="122440"/>
                </a:solidFill>
                <a:latin typeface="Aptos"/>
              </a:defRPr>
            </a:pPr>
            <a:r>
              <a:t>Speaking Scoring Formula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298448"/>
            <a:ext cx="713232" cy="32004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808" y="1682496"/>
            <a:ext cx="10698480" cy="694944"/>
          </a:xfrm>
          <a:prstGeom prst="roundRect">
            <a:avLst/>
          </a:prstGeom>
          <a:solidFill>
            <a:srgbClr val="EBF2FA"/>
          </a:solidFill>
          <a:ln w="12065">
            <a:solidFill>
              <a:srgbClr val="2B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20" b="1">
                <a:solidFill>
                  <a:srgbClr val="122440"/>
                </a:solidFill>
                <a:latin typeface="Aptos"/>
              </a:defRPr>
            </a:pPr>
            <a:r>
              <a:t>Speaking Score = Grammar × 20% + Vocabulary × 20% + Fluency × 20% + Discourse × 20% + Pronunciation × 20%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788920" y="2834640"/>
          <a:ext cx="6629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1828800"/>
              </a:tblGrid>
              <a:tr h="396240">
                <a:tc>
                  <a:txBody>
                    <a:bodyPr lIns="73152" rIns="73152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Criterion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</a:tr>
              <a:tr h="396240">
                <a:tc>
                  <a:txBody>
                    <a:bodyPr lIns="73152" rIns="73152"/>
                    <a:lstStyle/>
                    <a:p>
                      <a:pPr>
                        <a:defRPr sz="130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Grammar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30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96240">
                <a:tc>
                  <a:txBody>
                    <a:bodyPr lIns="73152" rIns="73152"/>
                    <a:lstStyle/>
                    <a:p>
                      <a:pPr>
                        <a:defRPr sz="130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Vocabulary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30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lIns="73152" rIns="73152"/>
                    <a:lstStyle/>
                    <a:p>
                      <a:pPr>
                        <a:defRPr sz="130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Fluency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30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396240">
                <a:tc>
                  <a:txBody>
                    <a:bodyPr lIns="73152" rIns="73152"/>
                    <a:lstStyle/>
                    <a:p>
                      <a:pPr>
                        <a:defRPr sz="130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Discourse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30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lIns="73152" rIns="73152"/>
                    <a:lstStyle/>
                    <a:p>
                      <a:pPr>
                        <a:defRPr sz="130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Pronunciation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30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76871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16/24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84124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2300" b="1">
                <a:solidFill>
                  <a:srgbClr val="122440"/>
                </a:solidFill>
                <a:latin typeface="Aptos"/>
              </a:defRPr>
            </a:pPr>
            <a:r>
              <a:t>Speaking Assessment Signals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298448"/>
            <a:ext cx="713232" cy="32004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1737360"/>
            <a:ext cx="10652760" cy="41605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82F3A"/>
                </a:solidFill>
                <a:latin typeface="Aptos"/>
              </a:defRPr>
            </a:pPr>
            <a:r>
              <a:t>• Transcript supports grammar, vocabulary, and discourse evaluation.</a:t>
            </a:r>
          </a:p>
          <a:p>
            <a:pPr>
              <a:spcAft>
                <a:spcPts val="900"/>
              </a:spcAft>
              <a:defRPr sz="1800">
                <a:solidFill>
                  <a:srgbClr val="282F3A"/>
                </a:solidFill>
                <a:latin typeface="Aptos"/>
              </a:defRPr>
            </a:pPr>
            <a:r>
              <a:t>• Speaking rate and pause count support fluency evaluation.</a:t>
            </a:r>
          </a:p>
          <a:p>
            <a:pPr>
              <a:spcAft>
                <a:spcPts val="900"/>
              </a:spcAft>
              <a:defRPr sz="1800">
                <a:solidFill>
                  <a:srgbClr val="282F3A"/>
                </a:solidFill>
                <a:latin typeface="Aptos"/>
              </a:defRPr>
            </a:pPr>
            <a:r>
              <a:t>• Pronunciation score comes from speech-processing signals.</a:t>
            </a:r>
          </a:p>
          <a:p>
            <a:pPr>
              <a:spcAft>
                <a:spcPts val="900"/>
              </a:spcAft>
              <a:defRPr sz="1800">
                <a:solidFill>
                  <a:srgbClr val="282F3A"/>
                </a:solidFill>
                <a:latin typeface="Aptos"/>
              </a:defRPr>
            </a:pPr>
            <a:r>
              <a:t>• Content relevance adjusts discourse/content-related interpretation when needed.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76871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17/24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84124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2300" b="1">
                <a:solidFill>
                  <a:srgbClr val="122440"/>
                </a:solidFill>
                <a:latin typeface="Aptos"/>
              </a:defRPr>
            </a:pPr>
            <a:r>
              <a:t>Guardrails for Abnormal Answers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298448"/>
            <a:ext cx="713232" cy="32004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34440" y="1627632"/>
            <a:ext cx="9738360" cy="493776"/>
          </a:xfrm>
          <a:prstGeom prst="roundRect">
            <a:avLst/>
          </a:prstGeom>
          <a:solidFill>
            <a:srgbClr val="EBF2FA"/>
          </a:solidFill>
          <a:ln w="12065">
            <a:solidFill>
              <a:srgbClr val="2B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50" b="1">
                <a:solidFill>
                  <a:srgbClr val="122440"/>
                </a:solidFill>
                <a:latin typeface="Aptos"/>
              </a:defRPr>
            </a:pPr>
            <a:r>
              <a:t>Do not use a simple average for abnormal submissions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914400" y="2450592"/>
          <a:ext cx="1033272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6446520"/>
              </a:tblGrid>
              <a:tr h="464820">
                <a:tc>
                  <a:txBody>
                    <a:bodyPr lIns="73152" rIns="73152"/>
                    <a:lstStyle/>
                    <a:p>
                      <a:pPr>
                        <a:defRPr sz="11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 case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handling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</a:tr>
              <a:tr h="464820">
                <a:tc>
                  <a:txBody>
                    <a:bodyPr lIns="73152" rIns="73152"/>
                    <a:lstStyle/>
                    <a:p>
                      <a:pPr>
                        <a:defRPr sz="117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Off-topic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7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Apply content cap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64820">
                <a:tc>
                  <a:txBody>
                    <a:bodyPr lIns="73152" rIns="73152"/>
                    <a:lstStyle/>
                    <a:p>
                      <a:pPr>
                        <a:defRPr sz="117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Too short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7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Limit maximum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 lIns="73152" rIns="73152"/>
                    <a:lstStyle/>
                    <a:p>
                      <a:pPr>
                        <a:defRPr sz="117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Copied prompt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7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Detect low originality / cap score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64820">
                <a:tc>
                  <a:txBody>
                    <a:bodyPr lIns="73152" rIns="73152"/>
                    <a:lstStyle/>
                    <a:p>
                      <a:pPr>
                        <a:defRPr sz="117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Repeated or spam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7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Apply penalty / cap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 lIns="73152" rIns="73152"/>
                    <a:lstStyle/>
                    <a:p>
                      <a:pPr>
                        <a:defRPr sz="117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Non-English answer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7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Prevent high score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36407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18/24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84124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2300" b="1">
                <a:solidFill>
                  <a:srgbClr val="122440"/>
                </a:solidFill>
                <a:latin typeface="Aptos"/>
              </a:defRPr>
            </a:pPr>
            <a:r>
              <a:t>Validation Strategy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298448"/>
            <a:ext cx="713232" cy="32004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920240" y="1627632"/>
            <a:ext cx="8275320" cy="493776"/>
          </a:xfrm>
          <a:prstGeom prst="roundRect">
            <a:avLst/>
          </a:prstGeom>
          <a:solidFill>
            <a:srgbClr val="EBF2FA"/>
          </a:solidFill>
          <a:ln w="12065">
            <a:solidFill>
              <a:srgbClr val="2B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50" b="1">
                <a:solidFill>
                  <a:srgbClr val="122440"/>
                </a:solidFill>
                <a:latin typeface="Aptos"/>
              </a:defRPr>
            </a:pPr>
            <a:r>
              <a:t>Benchmark and guardrail are reported separately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58368" y="2423160"/>
          <a:ext cx="10881360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5166360"/>
                <a:gridCol w="2377440"/>
              </a:tblGrid>
              <a:tr h="615696">
                <a:tc>
                  <a:txBody>
                    <a:bodyPr lIns="73152" r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Validation group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Reporting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</a:tr>
              <a:tr h="615696">
                <a:tc>
                  <a:txBody>
                    <a:bodyPr lIns="73152" rIns="73152"/>
                    <a:lstStyle/>
                    <a:p>
                      <a:pPr>
                        <a:defRPr sz="110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Referenced benchmark samples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0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Compare predicted proficiency with reference level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0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CEFR match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615696">
                <a:tc>
                  <a:txBody>
                    <a:bodyPr lIns="73152" rIns="73152"/>
                    <a:lstStyle/>
                    <a:p>
                      <a:pPr>
                        <a:defRPr sz="110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VSTEP-style risk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0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Verify abnormal answers are not scored highly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0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Handled / not handled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877824" y="4663440"/>
            <a:ext cx="10287000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  <a:defRPr sz="1380">
                <a:solidFill>
                  <a:srgbClr val="282F3A"/>
                </a:solidFill>
                <a:latin typeface="Aptos"/>
              </a:defRPr>
            </a:pPr>
            <a:r>
              <a:t>• Cambridge/FCE is only a referenced benchmark source, not the target standard.</a:t>
            </a:r>
          </a:p>
          <a:p>
            <a:pPr>
              <a:spcAft>
                <a:spcPts val="900"/>
              </a:spcAft>
              <a:defRPr sz="1380">
                <a:solidFill>
                  <a:srgbClr val="282F3A"/>
                </a:solidFill>
                <a:latin typeface="Aptos"/>
              </a:defRPr>
            </a:pPr>
            <a:r>
              <a:t>• VSTEP remains the target format and rubric of the product.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36407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19/24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84124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2300" b="1">
                <a:solidFill>
                  <a:srgbClr val="122440"/>
                </a:solidFill>
                <a:latin typeface="Aptos"/>
              </a:defRPr>
            </a:pPr>
            <a:r>
              <a:t>Validation Results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298448"/>
            <a:ext cx="713232" cy="32004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97280" y="1874519"/>
            <a:ext cx="4617720" cy="868680"/>
          </a:xfrm>
          <a:prstGeom prst="roundRect">
            <a:avLst/>
          </a:prstGeom>
          <a:solidFill>
            <a:srgbClr val="EBF2FA"/>
          </a:solidFill>
          <a:ln w="12065">
            <a:solidFill>
              <a:srgbClr val="2A7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A7657"/>
                </a:solidFill>
                <a:latin typeface="Aptos"/>
              </a:defRPr>
            </a:pPr>
            <a:r>
              <a:t>Referenced benchmark</a:t>
            </a:r>
            <a:br/>
            <a:r>
              <a:t>9/9 CEFR matched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1874519"/>
            <a:ext cx="4617720" cy="868680"/>
          </a:xfrm>
          <a:prstGeom prst="roundRect">
            <a:avLst/>
          </a:prstGeom>
          <a:solidFill>
            <a:srgbClr val="EBF2FA"/>
          </a:solidFill>
          <a:ln w="12065">
            <a:solidFill>
              <a:srgbClr val="2A7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A7657"/>
                </a:solidFill>
                <a:latin typeface="Aptos"/>
              </a:defRPr>
            </a:pPr>
            <a:r>
              <a:t>VSTEP guardrail cases</a:t>
            </a:r>
            <a:br/>
            <a:r>
              <a:t>5/5 handled correctly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749039"/>
            <a:ext cx="9875520" cy="9601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  <a:defRPr sz="1520">
                <a:solidFill>
                  <a:srgbClr val="282F3A"/>
                </a:solidFill>
                <a:latin typeface="Aptos"/>
              </a:defRPr>
            </a:pPr>
            <a:r>
              <a:t>• Results demonstrate consistency on selected samples.</a:t>
            </a:r>
          </a:p>
          <a:p>
            <a:pPr>
              <a:spcAft>
                <a:spcPts val="900"/>
              </a:spcAft>
              <a:defRPr sz="1520">
                <a:solidFill>
                  <a:srgbClr val="282F3A"/>
                </a:solidFill>
                <a:latin typeface="Aptos"/>
              </a:defRPr>
            </a:pPr>
            <a:r>
              <a:t>• The validation does not claim official examiner equivalence or large-scale psychometric validation.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95943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20/24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84124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2300" b="1">
                <a:solidFill>
                  <a:srgbClr val="122440"/>
                </a:solidFill>
                <a:latin typeface="Aptos"/>
              </a:defRPr>
            </a:pPr>
            <a:r>
              <a:t>Learning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298448"/>
            <a:ext cx="713232" cy="32004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1737360"/>
            <a:ext cx="10652760" cy="41605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82F3A"/>
                </a:solidFill>
                <a:latin typeface="Aptos"/>
              </a:defRPr>
            </a:pPr>
            <a:r>
              <a:t>• Analyzes skill gaps from practice and mock test results.</a:t>
            </a:r>
          </a:p>
          <a:p>
            <a:pPr>
              <a:spcAft>
                <a:spcPts val="900"/>
              </a:spcAft>
              <a:defRPr sz="1800">
                <a:solidFill>
                  <a:srgbClr val="282F3A"/>
                </a:solidFill>
                <a:latin typeface="Aptos"/>
              </a:defRPr>
            </a:pPr>
            <a:r>
              <a:t>• Recommends practice areas based on weak skills and target level.</a:t>
            </a:r>
          </a:p>
          <a:p>
            <a:pPr>
              <a:spcAft>
                <a:spcPts val="900"/>
              </a:spcAft>
              <a:defRPr sz="1800">
                <a:solidFill>
                  <a:srgbClr val="282F3A"/>
                </a:solidFill>
                <a:latin typeface="Aptos"/>
              </a:defRPr>
            </a:pPr>
            <a:r>
              <a:t>• Uses rule-based insights in the current capstone scope.</a:t>
            </a:r>
          </a:p>
          <a:p>
            <a:pPr>
              <a:spcAft>
                <a:spcPts val="900"/>
              </a:spcAft>
              <a:defRPr sz="1800">
                <a:solidFill>
                  <a:srgbClr val="282F3A"/>
                </a:solidFill>
                <a:latin typeface="Aptos"/>
              </a:defRPr>
            </a:pPr>
            <a:r>
              <a:t>• Machine-learning predictive analytics is reserved for future work.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95943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21/24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84124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2300" b="1">
                <a:solidFill>
                  <a:srgbClr val="122440"/>
                </a:solidFill>
                <a:latin typeface="Aptos"/>
              </a:defRPr>
            </a:pPr>
            <a:r>
              <a:t>Vocabulary Spaced Repetition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298448"/>
            <a:ext cx="713232" cy="32004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2011680"/>
            <a:ext cx="1828800" cy="566928"/>
          </a:xfrm>
          <a:prstGeom prst="roundRect">
            <a:avLst/>
          </a:prstGeom>
          <a:solidFill>
            <a:srgbClr val="EBF2FA"/>
          </a:solidFill>
          <a:ln w="12065">
            <a:solidFill>
              <a:srgbClr val="2B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60" b="1">
                <a:solidFill>
                  <a:srgbClr val="122440"/>
                </a:solidFill>
                <a:latin typeface="Aptos"/>
              </a:defRPr>
            </a:pPr>
            <a:r>
              <a:t>New word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615184" y="2194560"/>
            <a:ext cx="246888" cy="201168"/>
          </a:xfrm>
          <a:prstGeom prst="rightArrow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35224" y="2011680"/>
            <a:ext cx="1828800" cy="566928"/>
          </a:xfrm>
          <a:prstGeom prst="roundRect">
            <a:avLst/>
          </a:prstGeom>
          <a:solidFill>
            <a:srgbClr val="FFFFFF"/>
          </a:solidFill>
          <a:ln w="12065">
            <a:solidFill>
              <a:srgbClr val="2B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60" b="1">
                <a:solidFill>
                  <a:srgbClr val="12244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837176" y="2194560"/>
            <a:ext cx="246888" cy="201168"/>
          </a:xfrm>
          <a:prstGeom prst="rightArrow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157216" y="2011680"/>
            <a:ext cx="1828800" cy="566928"/>
          </a:xfrm>
          <a:prstGeom prst="roundRect">
            <a:avLst/>
          </a:prstGeom>
          <a:solidFill>
            <a:srgbClr val="EBF2FA"/>
          </a:solidFill>
          <a:ln w="12065">
            <a:solidFill>
              <a:srgbClr val="2B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60" b="1">
                <a:solidFill>
                  <a:srgbClr val="122440"/>
                </a:solidFill>
                <a:latin typeface="Aptos"/>
              </a:defRPr>
            </a:pPr>
            <a:r>
              <a:t>Recall quality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059168" y="2194560"/>
            <a:ext cx="246888" cy="201168"/>
          </a:xfrm>
          <a:prstGeom prst="rightArrow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79208" y="2011680"/>
            <a:ext cx="1828800" cy="566928"/>
          </a:xfrm>
          <a:prstGeom prst="roundRect">
            <a:avLst/>
          </a:prstGeom>
          <a:solidFill>
            <a:srgbClr val="FFFFFF"/>
          </a:solidFill>
          <a:ln w="12065">
            <a:solidFill>
              <a:srgbClr val="2B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60" b="1">
                <a:solidFill>
                  <a:srgbClr val="122440"/>
                </a:solidFill>
                <a:latin typeface="Aptos"/>
              </a:defRPr>
            </a:pPr>
            <a:r>
              <a:t>Next interval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281160" y="2194560"/>
            <a:ext cx="246888" cy="201168"/>
          </a:xfrm>
          <a:prstGeom prst="rightArrow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01200" y="2011680"/>
            <a:ext cx="1828800" cy="566928"/>
          </a:xfrm>
          <a:prstGeom prst="roundRect">
            <a:avLst/>
          </a:prstGeom>
          <a:solidFill>
            <a:srgbClr val="EBF2FA"/>
          </a:solidFill>
          <a:ln w="12065">
            <a:solidFill>
              <a:srgbClr val="2B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60" b="1">
                <a:solidFill>
                  <a:srgbClr val="122440"/>
                </a:solidFill>
                <a:latin typeface="Aptos"/>
              </a:defRPr>
            </a:pPr>
            <a:r>
              <a:t>Due again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3703320"/>
            <a:ext cx="10195560" cy="1234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  <a:defRPr sz="1520">
                <a:solidFill>
                  <a:srgbClr val="282F3A"/>
                </a:solidFill>
                <a:latin typeface="Aptos"/>
              </a:defRPr>
            </a:pPr>
            <a:r>
              <a:t>• Supports Anki/SRS-style vocabulary review.</a:t>
            </a:r>
          </a:p>
          <a:p>
            <a:pPr>
              <a:spcAft>
                <a:spcPts val="900"/>
              </a:spcAft>
              <a:defRPr sz="1520">
                <a:solidFill>
                  <a:srgbClr val="282F3A"/>
                </a:solidFill>
                <a:latin typeface="Aptos"/>
              </a:defRPr>
            </a:pPr>
            <a:r>
              <a:t>• Prioritizes vocabulary items that are due for review.</a:t>
            </a:r>
          </a:p>
          <a:p>
            <a:pPr>
              <a:spcAft>
                <a:spcPts val="900"/>
              </a:spcAft>
              <a:defRPr sz="1520">
                <a:solidFill>
                  <a:srgbClr val="282F3A"/>
                </a:solidFill>
                <a:latin typeface="Aptos"/>
              </a:defRPr>
            </a:pPr>
            <a:r>
              <a:t>• Complements skill-gap recommendations with repeated vocabulary practice.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55479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22/24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84124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2300" b="1">
                <a:solidFill>
                  <a:srgbClr val="122440"/>
                </a:solidFill>
                <a:latin typeface="Aptos"/>
              </a:defRPr>
            </a:pPr>
            <a:r>
              <a:t>Deployment and Quality Management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298448"/>
            <a:ext cx="713232" cy="32004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49808" y="1737360"/>
          <a:ext cx="10716768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973568"/>
              </a:tblGrid>
              <a:tr h="541020">
                <a:tc>
                  <a:txBody>
                    <a:bodyPr lIns="73152" rIns="73152"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122440"/>
                    </a:solidFill>
                  </a:tcPr>
                </a:tc>
              </a:tr>
              <a:tr h="541020">
                <a:tc>
                  <a:txBody>
                    <a:bodyPr lIns="73152" rIns="73152"/>
                    <a:lstStyle/>
                    <a:p>
                      <a:pPr>
                        <a:defRPr sz="115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5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Docker-based deployment on Linux VPS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41020">
                <a:tc>
                  <a:txBody>
                    <a:bodyPr lIns="73152" rIns="73152"/>
                    <a:lstStyle/>
                    <a:p>
                      <a:pPr>
                        <a:defRPr sz="115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5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GitHub Actions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lIns="73152" rIns="73152"/>
                    <a:lstStyle/>
                    <a:p>
                      <a:pPr>
                        <a:defRPr sz="115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Data services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5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PostgreSQL and Redis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41020">
                <a:tc>
                  <a:txBody>
                    <a:bodyPr lIns="73152" rIns="73152"/>
                    <a:lstStyle/>
                    <a:p>
                      <a:pPr>
                        <a:defRPr sz="115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5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PHPUnit, integration tests, manual system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lIns="73152" rIns="73152"/>
                    <a:lstStyle/>
                    <a:p>
                      <a:pPr>
                        <a:defRPr sz="115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External services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1150">
                          <a:solidFill>
                            <a:srgbClr val="282F3A"/>
                          </a:solidFill>
                          <a:latin typeface="Aptos"/>
                        </a:defRPr>
                      </a:pPr>
                      <a:r>
                        <a:t>Isolated with test doubles in automated tests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55479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23/24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84124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2300" b="1">
                <a:solidFill>
                  <a:srgbClr val="122440"/>
                </a:solidFill>
                <a:latin typeface="Aptos"/>
              </a:defRPr>
            </a:pPr>
            <a:r>
              <a:t>Demo Scenario and Deliverables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298448"/>
            <a:ext cx="713232" cy="32004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1755648"/>
            <a:ext cx="1828800" cy="530352"/>
          </a:xfrm>
          <a:prstGeom prst="roundRect">
            <a:avLst/>
          </a:prstGeom>
          <a:solidFill>
            <a:srgbClr val="EBF2FA"/>
          </a:solidFill>
          <a:ln w="12065">
            <a:solidFill>
              <a:srgbClr val="2B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60" b="1">
                <a:solidFill>
                  <a:srgbClr val="122440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615184" y="1920240"/>
            <a:ext cx="246888" cy="201168"/>
          </a:xfrm>
          <a:prstGeom prst="rightArrow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35224" y="1755648"/>
            <a:ext cx="1828800" cy="530352"/>
          </a:xfrm>
          <a:prstGeom prst="roundRect">
            <a:avLst/>
          </a:prstGeom>
          <a:solidFill>
            <a:srgbClr val="FFFFFF"/>
          </a:solidFill>
          <a:ln w="12065">
            <a:solidFill>
              <a:srgbClr val="2B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60" b="1">
                <a:solidFill>
                  <a:srgbClr val="122440"/>
                </a:solidFill>
                <a:latin typeface="Aptos"/>
              </a:defRPr>
            </a:pPr>
            <a:r>
              <a:t>Start test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837176" y="1920240"/>
            <a:ext cx="246888" cy="201168"/>
          </a:xfrm>
          <a:prstGeom prst="rightArrow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157216" y="1755648"/>
            <a:ext cx="1828800" cy="530352"/>
          </a:xfrm>
          <a:prstGeom prst="roundRect">
            <a:avLst/>
          </a:prstGeom>
          <a:solidFill>
            <a:srgbClr val="EBF2FA"/>
          </a:solidFill>
          <a:ln w="12065">
            <a:solidFill>
              <a:srgbClr val="2B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60" b="1">
                <a:solidFill>
                  <a:srgbClr val="122440"/>
                </a:solidFill>
                <a:latin typeface="Aptos"/>
              </a:defRPr>
            </a:pPr>
            <a:r>
              <a:t>Submit W/S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059168" y="1920240"/>
            <a:ext cx="246888" cy="201168"/>
          </a:xfrm>
          <a:prstGeom prst="rightArrow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79208" y="1755648"/>
            <a:ext cx="1828800" cy="530352"/>
          </a:xfrm>
          <a:prstGeom prst="roundRect">
            <a:avLst/>
          </a:prstGeom>
          <a:solidFill>
            <a:srgbClr val="FFFFFF"/>
          </a:solidFill>
          <a:ln w="12065">
            <a:solidFill>
              <a:srgbClr val="2B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60" b="1">
                <a:solidFill>
                  <a:srgbClr val="122440"/>
                </a:solidFill>
                <a:latin typeface="Aptos"/>
              </a:defRPr>
            </a:pPr>
            <a:r>
              <a:t>Background grading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281160" y="1920240"/>
            <a:ext cx="246888" cy="201168"/>
          </a:xfrm>
          <a:prstGeom prst="rightArrow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01200" y="1755648"/>
            <a:ext cx="1828800" cy="530352"/>
          </a:xfrm>
          <a:prstGeom prst="roundRect">
            <a:avLst/>
          </a:prstGeom>
          <a:solidFill>
            <a:srgbClr val="EBF2FA"/>
          </a:solidFill>
          <a:ln w="12065">
            <a:solidFill>
              <a:srgbClr val="2B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60" b="1">
                <a:solidFill>
                  <a:srgbClr val="122440"/>
                </a:solidFill>
                <a:latin typeface="Aptos"/>
              </a:defRPr>
            </a:pPr>
            <a:r>
              <a:t>View result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2971800"/>
            <a:ext cx="5029200" cy="19659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9808" y="2971800"/>
            <a:ext cx="50292" cy="196596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3099816"/>
            <a:ext cx="47091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1350" b="1">
                <a:solidFill>
                  <a:srgbClr val="122440"/>
                </a:solidFill>
                <a:latin typeface="Aptos"/>
              </a:defRPr>
            </a:pPr>
            <a:r>
              <a:t>Demo checkpoints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" y="3447288"/>
            <a:ext cx="4700016" cy="141731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Score breakdown and rubric criteria</a:t>
            </a:r>
          </a:p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Strengths, improvements, rewrites</a:t>
            </a:r>
          </a:p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Skill gaps and learning recommendation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2971800"/>
            <a:ext cx="5029200" cy="19659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2971800"/>
            <a:ext cx="50292" cy="1965960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6248" y="3099816"/>
            <a:ext cx="47091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1350" b="1">
                <a:solidFill>
                  <a:srgbClr val="122440"/>
                </a:solidFill>
                <a:latin typeface="Aptos"/>
              </a:defRPr>
            </a:pPr>
            <a:r>
              <a:t>Deliverables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56248" y="3447288"/>
            <a:ext cx="4700016" cy="141731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Backend, web, mobile, admin panel</a:t>
            </a:r>
          </a:p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AI-supported scoring module</a:t>
            </a:r>
          </a:p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Testing report and deployment package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"/>
            <a:ext cx="960120" cy="374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137160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819" b="1">
                <a:solidFill>
                  <a:srgbClr val="122440"/>
                </a:solidFill>
                <a:latin typeface="Aptos"/>
              </a:defRPr>
            </a:pPr>
            <a:r>
              <a:t>VSTEP Preparation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310896"/>
            <a:ext cx="192024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20" b="0">
                <a:solidFill>
                  <a:srgbClr val="5D6776"/>
                </a:solidFill>
                <a:latin typeface="Aptos"/>
              </a:defRPr>
            </a:pPr>
            <a:r>
              <a:t>Capstone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5504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4575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1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7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0">
                <a:solidFill>
                  <a:srgbClr val="5D677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3183" y="20116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680" b="1">
                <a:solidFill>
                  <a:srgbClr val="195E79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55479" y="457200"/>
            <a:ext cx="621792" cy="32004"/>
          </a:xfrm>
          <a:prstGeom prst="rect">
            <a:avLst/>
          </a:prstGeom>
          <a:solidFill>
            <a:srgbClr val="195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73968" cy="10972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740" b="0">
                <a:solidFill>
                  <a:srgbClr val="919AA6"/>
                </a:solidFill>
                <a:latin typeface="Aptos"/>
              </a:defRPr>
            </a:pPr>
            <a:r>
              <a:t>FPT University · SP26SE145 · GSP26SE63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428232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740" b="0">
                <a:solidFill>
                  <a:srgbClr val="919AA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6768" y="6428232"/>
            <a:ext cx="96012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defRPr sz="800" b="1">
                <a:solidFill>
                  <a:srgbClr val="122440"/>
                </a:solidFill>
                <a:latin typeface="Aptos"/>
              </a:defRPr>
            </a:pPr>
            <a:r>
              <a:t>24/24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841248"/>
            <a:ext cx="10698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2300" b="1">
                <a:solidFill>
                  <a:srgbClr val="122440"/>
                </a:solidFill>
                <a:latin typeface="Aptos"/>
              </a:defRPr>
            </a:pPr>
            <a:r>
              <a:t>Conclusion and Future 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298448"/>
            <a:ext cx="713232" cy="32004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808" y="1755648"/>
            <a:ext cx="5074920" cy="28346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" y="1755648"/>
            <a:ext cx="50292" cy="2834640"/>
          </a:xfrm>
          <a:prstGeom prst="rect">
            <a:avLst/>
          </a:prstGeom>
          <a:solidFill>
            <a:srgbClr val="2A7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1883664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1350" b="1">
                <a:solidFill>
                  <a:srgbClr val="12244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2231136"/>
            <a:ext cx="4745736" cy="22860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Supports VSTEP preparation across four skills</a:t>
            </a:r>
          </a:p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Provides rubric-based scoring with AI-supported evidence</a:t>
            </a:r>
          </a:p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Connects assessment to learning path and progress tracking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1755648"/>
            <a:ext cx="5074920" cy="28346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1755648"/>
            <a:ext cx="50292" cy="2834640"/>
          </a:xfrm>
          <a:prstGeom prst="rect">
            <a:avLst/>
          </a:prstGeom>
          <a:solidFill>
            <a:srgbClr val="EC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1883664"/>
            <a:ext cx="47548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defRPr sz="1350" b="1">
                <a:solidFill>
                  <a:srgbClr val="122440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8" y="2231136"/>
            <a:ext cx="4745736" cy="22860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Dynamic adaptive difficulty</a:t>
            </a:r>
          </a:p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Official large-scale benchmark</a:t>
            </a:r>
          </a:p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ML-based predictive analytics</a:t>
            </a:r>
          </a:p>
          <a:p>
            <a:pPr>
              <a:spcAft>
                <a:spcPts val="900"/>
              </a:spcAft>
              <a:defRPr sz="1160">
                <a:solidFill>
                  <a:srgbClr val="282F3A"/>
                </a:solidFill>
                <a:latin typeface="Aptos"/>
              </a:defRPr>
            </a:pPr>
            <a:r>
              <a:t>• Teacher-assigned personalized modules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5285232"/>
            <a:ext cx="53949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defRPr sz="2400" b="1">
                <a:solidFill>
                  <a:srgbClr val="122440"/>
                </a:solidFill>
                <a:latin typeface="Aptos"/>
              </a:defRPr>
            </a:pPr>
            <a:r>
              <a:t>Thank you ·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